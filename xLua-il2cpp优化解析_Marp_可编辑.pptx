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xLua-il2cpp 优化解析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性能优化思路与原理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优化概述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传统模式</a:t>
            </a:r>
            <a:r>
              <a:rPr/>
              <a:t>：</a:t>
            </a:r>
            <a:r>
              <a:rPr>
                <a:latin typeface="Courier"/>
              </a:rPr>
              <a:t>C# → PInvoke → Native Plugin → Lua</a:t>
            </a:r>
            <a:br/>
            <a:r>
              <a:rPr b="1"/>
              <a:t>il2cpp 模式</a:t>
            </a:r>
            <a:r>
              <a:rPr/>
              <a:t>：</a:t>
            </a:r>
            <a:r>
              <a:rPr>
                <a:latin typeface="Courier"/>
              </a:rPr>
              <a:t>il2cpp → 直接调用 → Native Plugin → Lua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核心目标</a:t>
            </a:r>
          </a:p>
          <a:p>
            <a:pPr lvl="0"/>
            <a:r>
              <a:rPr/>
              <a:t>✅ 消除 PInvoke 开销（节省 50-80ns）</a:t>
            </a:r>
          </a:p>
          <a:p>
            <a:pPr lvl="0"/>
            <a:r>
              <a:rPr/>
              <a:t>✅ 减少 GC 分配（泛型、枚举、值类型 0 GC）</a:t>
            </a:r>
          </a:p>
          <a:p>
            <a:pPr lvl="0"/>
            <a:r>
              <a:rPr/>
              <a:t>✅ 提升调用性能 </a:t>
            </a:r>
            <a:r>
              <a:rPr b="1"/>
              <a:t>2-5倍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性能提升</a:t>
            </a:r>
          </a:p>
          <a:p>
            <a:pPr lvl="0"/>
            <a:r>
              <a:rPr/>
              <a:t>⚡ 函数调用：~100ns → ~20ns（</a:t>
            </a:r>
            <a:r>
              <a:rPr b="1"/>
              <a:t>5倍</a:t>
            </a:r>
            <a:r>
              <a:rPr/>
              <a:t>）</a:t>
            </a:r>
          </a:p>
          <a:p>
            <a:pPr lvl="0"/>
            <a:r>
              <a:rPr/>
              <a:t>⚡ 直接内存访问：</a:t>
            </a:r>
            <a:r>
              <a:rPr b="1"/>
              <a:t>提升 2-3倍</a:t>
            </a:r>
          </a:p>
          <a:p>
            <a:pPr lvl="0"/>
            <a:r>
              <a:rPr/>
              <a:t>🚫 泛型、枚举、值类型：</a:t>
            </a:r>
            <a:r>
              <a:rPr b="1"/>
              <a:t>0 GC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核心优化思路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┌─────────┐    直接调用      ┌─────┐
│ il2cpp  │ ──────────────&gt; │ Lua │
└─────────┘                 └─────┘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设计原则</a:t>
            </a:r>
          </a:p>
          <a:p>
            <a:pPr lvl="0"/>
            <a:r>
              <a:rPr b="1"/>
              <a:t>零开销抽象</a:t>
            </a:r>
            <a:r>
              <a:rPr/>
              <a:t>：编译时生成最优代码</a:t>
            </a:r>
          </a:p>
          <a:p>
            <a:pPr lvl="0"/>
            <a:r>
              <a:rPr b="1"/>
              <a:t>类型安全</a:t>
            </a:r>
            <a:r>
              <a:rPr/>
              <a:t>：利用 il2cpp 类型信息</a:t>
            </a:r>
          </a:p>
          <a:p>
            <a:pPr lvl="0"/>
            <a:r>
              <a:rPr b="1"/>
              <a:t>平台统一</a:t>
            </a:r>
            <a:r>
              <a:rPr/>
              <a:t>：pesapi 统一桥接接口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架构优化 - pesapi 桥接层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pesapi (Portable Embedded Scripting API)</a:t>
            </a:r>
          </a:p>
          <a:p>
            <a:pPr lvl="0" indent="0" marL="0">
              <a:buNone/>
            </a:pPr>
            <a:r>
              <a:rPr/>
              <a:t>统一桥接接口，跨平台支持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优势</a:t>
            </a:r>
          </a:p>
          <a:p>
            <a:pPr lvl="0"/>
            <a:r>
              <a:rPr/>
              <a:t>🌐 跨平台统一接口</a:t>
            </a:r>
          </a:p>
          <a:p>
            <a:pPr lvl="0"/>
            <a:r>
              <a:rPr/>
              <a:t>⚡ 直接调用，零 PInvoke 开销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调用路径</a:t>
            </a:r>
          </a:p>
          <a:p>
            <a:pPr lvl="0" indent="0" marL="0">
              <a:buNone/>
            </a:pPr>
            <a:r>
              <a:rPr b="1"/>
              <a:t>传统</a:t>
            </a:r>
            <a:r>
              <a:rPr/>
              <a:t>：</a:t>
            </a:r>
            <a:r>
              <a:rPr>
                <a:latin typeface="Courier"/>
              </a:rPr>
              <a:t>C# → PInvoke → Native → Lua</a:t>
            </a:r>
            <a:br/>
            <a:r>
              <a:rPr b="1"/>
              <a:t>il2cpp</a:t>
            </a:r>
            <a:r>
              <a:rPr/>
              <a:t>：</a:t>
            </a:r>
            <a:r>
              <a:rPr>
                <a:latin typeface="Courier"/>
              </a:rPr>
              <a:t>il2cpp → 直接调用 → Native → Lua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代码生成优化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C++ Wrapper</a:t>
            </a:r>
            <a:r>
              <a:rPr/>
              <a:t> 替代 C# Wrapper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传统模式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il2cpp 模式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Wrapper 类型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C# Static Wrapper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C++ FunctionBridge.h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调用方式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运行时反射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编译时直接链接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运行时开销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零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生成的 Bridge 函数</a:t>
            </a:r>
          </a:p>
          <a:p>
            <a:pPr lvl="0"/>
            <a:r>
              <a:rPr/>
              <a:t>类型信息编译时确定</a:t>
            </a:r>
          </a:p>
          <a:p>
            <a:pPr lvl="0"/>
            <a:r>
              <a:rPr/>
              <a:t>避免运行时类型查询</a:t>
            </a:r>
          </a:p>
          <a:p>
            <a:pPr lvl="0"/>
            <a:r>
              <a:rPr/>
              <a:t>直接内存操作，内联优化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数据结构优化 - dense_hash_map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dense_hash_map</a:t>
            </a:r>
            <a:r>
              <a:rPr/>
              <a:t> 替代 </a:t>
            </a:r>
            <a:r>
              <a:rPr>
                <a:latin typeface="Courier"/>
              </a:rPr>
              <a:t>std::unordered_map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优化前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std::</a:t>
            </a:r>
            <a:r>
              <a:rPr>
                <a:latin typeface="Courier"/>
              </a:rPr>
              <a:t>unordered_map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*,</a:t>
            </a:r>
            <a:r>
              <a:rPr>
                <a:latin typeface="Courier"/>
              </a:rPr>
              <a:t> ObjectCacheNode</a:t>
            </a:r>
            <a:r>
              <a:rPr>
                <a:solidFill>
                  <a:srgbClr val="666666"/>
                </a:solidFill>
                <a:latin typeface="Courier"/>
              </a:rPr>
              <a:t>*&gt;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m_DataCache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优化后</a:t>
            </a:r>
            <a:br/>
            <a:r>
              <a:rPr>
                <a:latin typeface="Courier"/>
              </a:rPr>
              <a:t>dense_hash_map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*,</a:t>
            </a:r>
            <a:r>
              <a:rPr>
                <a:latin typeface="Courier"/>
              </a:rPr>
              <a:t> ObjectCacheNode</a:t>
            </a:r>
            <a:r>
              <a:rPr>
                <a:solidFill>
                  <a:srgbClr val="666666"/>
                </a:solidFill>
                <a:latin typeface="Courier"/>
              </a:rPr>
              <a:t>*,</a:t>
            </a:r>
            <a:r>
              <a:rPr>
                <a:latin typeface="Courier"/>
              </a:rPr>
              <a:t> PointerHashFunctor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m_DataCache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性能提升</a:t>
            </a:r>
          </a:p>
          <a:p>
            <a:pPr lvl="0"/>
            <a:r>
              <a:rPr/>
              <a:t>📈 </a:t>
            </a:r>
            <a:r>
              <a:rPr b="1"/>
              <a:t>查找速度</a:t>
            </a:r>
            <a:r>
              <a:rPr/>
              <a:t>：快 </a:t>
            </a:r>
            <a:r>
              <a:rPr b="1"/>
              <a:t>2-3倍</a:t>
            </a:r>
          </a:p>
          <a:p>
            <a:pPr lvl="0"/>
            <a:r>
              <a:rPr/>
              <a:t>⚡ </a:t>
            </a:r>
            <a:r>
              <a:rPr b="1"/>
              <a:t>缓存友好</a:t>
            </a:r>
            <a:r>
              <a:rPr/>
              <a:t>：连续存储，指针直接 hash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类型系统优化（0 GC）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泛型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传统：装箱产生 GC</a:t>
            </a:r>
            <a:br/>
            <a:r>
              <a:rPr>
                <a:latin typeface="Courier"/>
              </a:rPr>
              <a:t>sendaction_generic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880000"/>
                </a:solidFill>
                <a:latin typeface="Courier"/>
              </a:rPr>
              <a:t>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Int32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 il2cpp：直接传入类型，无 GC</a:t>
            </a:r>
            <a:br/>
            <a:r>
              <a:rPr>
                <a:solidFill>
                  <a:srgbClr val="19177C"/>
                </a:solidFill>
                <a:latin typeface="Courier"/>
              </a:rPr>
              <a:t>xlua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get_generic_method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880000"/>
                </a:solidFill>
                <a:latin typeface="Courier"/>
              </a:rPr>
              <a:t>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Class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'SendAction'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Int32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枚举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传统：枚举对象，有 GC</a:t>
            </a:r>
            <a:br/>
            <a:r>
              <a:rPr>
                <a:solidFill>
                  <a:srgbClr val="19177C"/>
                </a:solidFill>
                <a:latin typeface="Courier"/>
              </a:rPr>
              <a:t>TssSDKIoctlCMD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CommQuery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value__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 il2cpp：直接作为 number，零开销</a:t>
            </a:r>
            <a:br/>
            <a:r>
              <a:rPr>
                <a:solidFill>
                  <a:srgbClr val="19177C"/>
                </a:solidFill>
                <a:latin typeface="Courier"/>
              </a:rPr>
              <a:t>TssSDKIoctlCMD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CommQuery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值类型</a:t>
            </a:r>
          </a:p>
          <a:p>
            <a:pPr lvl="0"/>
            <a:r>
              <a:rPr/>
              <a:t>✅ 栈上传递，无需装箱，减少内存分配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性能提升总结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核心指标</a:t>
            </a:r>
          </a:p>
          <a:p>
            <a:pPr lvl="0"/>
            <a:r>
              <a:rPr/>
              <a:t>⚡ 函数调用：~100ns → ~20ns（</a:t>
            </a:r>
            <a:r>
              <a:rPr b="1"/>
              <a:t>5倍</a:t>
            </a:r>
            <a:r>
              <a:rPr/>
              <a:t>）</a:t>
            </a:r>
          </a:p>
          <a:p>
            <a:pPr lvl="0"/>
            <a:r>
              <a:rPr/>
              <a:t>🚫 GC 分配：频繁 → 极少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核心价值</a:t>
            </a:r>
          </a:p>
          <a:p>
            <a:pPr lvl="0"/>
            <a:r>
              <a:rPr/>
              <a:t>⚡ 性能提升 </a:t>
            </a:r>
            <a:r>
              <a:rPr b="1"/>
              <a:t>2-5倍</a:t>
            </a:r>
          </a:p>
          <a:p>
            <a:pPr lvl="0"/>
            <a:r>
              <a:rPr/>
              <a:t>🚫 GC 分配显著降低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2025-12-21T16:14:06Z</dcterms:created>
  <dcterms:modified xsi:type="dcterms:W3CDTF">2025-12-21T16:14:06Z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tyle">
    <vt:lpwstr>section { font-family: ‘Microsoft YaHei’, ‘SimSun’, Arial, sans-serif; } code { font-family: ‘Consolas’, ‘Courier New’, monospace; }</vt:lpwstr>
  </property>
  <property fmtid="{D5CDD505-2E9C-101B-9397-08002B2CF9AE}" pid="5" name="theme">
    <vt:lpwstr>default</vt:lpwstr>
  </property>
</Properties>
</file>