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9" r:id="rId2"/>
  </p:sldMasterIdLst>
  <p:notesMasterIdLst>
    <p:notesMasterId r:id="rId13"/>
  </p:notesMasterIdLst>
  <p:sldIdLst>
    <p:sldId id="256" r:id="rId3"/>
    <p:sldId id="609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10101"/>
    <a:srgbClr val="0052D9"/>
    <a:srgbClr val="0070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79555" autoAdjust="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A127-05E9-4682-85FA-E237ADC18846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F58A-E278-44D1-98AF-E76C900EF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AF58A-E278-44D1-98AF-E76C900EF3A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91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封面-纯色"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2-01.png" descr="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" y="-1"/>
            <a:ext cx="12183415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标题文本"/>
          <p:cNvSpPr txBox="1">
            <a:spLocks noGrp="1"/>
          </p:cNvSpPr>
          <p:nvPr>
            <p:ph type="title"/>
          </p:nvPr>
        </p:nvSpPr>
        <p:spPr>
          <a:xfrm>
            <a:off x="1015074" y="80384"/>
            <a:ext cx="10305786" cy="549496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" name="矩形"/>
          <p:cNvSpPr/>
          <p:nvPr/>
        </p:nvSpPr>
        <p:spPr>
          <a:xfrm>
            <a:off x="-5259" y="6543146"/>
            <a:ext cx="12202518" cy="13428"/>
          </a:xfrm>
          <a:prstGeom prst="rect">
            <a:avLst/>
          </a:prstGeom>
          <a:solidFill>
            <a:srgbClr val="00CC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1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228569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-近景"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1-01.png" descr="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" y="0"/>
            <a:ext cx="1218341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标题文本"/>
          <p:cNvSpPr txBox="1">
            <a:spLocks noGrp="1"/>
          </p:cNvSpPr>
          <p:nvPr>
            <p:ph type="title"/>
          </p:nvPr>
        </p:nvSpPr>
        <p:spPr>
          <a:xfrm>
            <a:off x="695457" y="2262667"/>
            <a:ext cx="10305786" cy="3200037"/>
          </a:xfrm>
          <a:prstGeom prst="rect">
            <a:avLst/>
          </a:prstGeom>
        </p:spPr>
        <p:txBody>
          <a:bodyPr anchor="t"/>
          <a:lstStyle>
            <a:lvl1pPr algn="l">
              <a:defRPr sz="7000" b="0"/>
            </a:lvl1pPr>
          </a:lstStyle>
          <a:p>
            <a:r>
              <a:t>标题文本</a:t>
            </a:r>
          </a:p>
        </p:txBody>
      </p:sp>
      <p:sp>
        <p:nvSpPr>
          <p:cNvPr id="2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43107" y="3961243"/>
            <a:ext cx="10305786" cy="6337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  <a:lvl2pPr marL="0" indent="1143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2pPr>
            <a:lvl3pPr marL="0" indent="2286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3pPr>
            <a:lvl4pPr marL="0" indent="3429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4pPr>
            <a:lvl5pPr marL="0" indent="457200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8" name="文本"/>
          <p:cNvSpPr txBox="1">
            <a:spLocks noGrp="1"/>
          </p:cNvSpPr>
          <p:nvPr>
            <p:ph type="body" sz="quarter" idx="13"/>
          </p:nvPr>
        </p:nvSpPr>
        <p:spPr>
          <a:xfrm>
            <a:off x="6096000" y="5560930"/>
            <a:ext cx="102657" cy="53912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2800">
                <a:solidFill>
                  <a:srgbClr val="FFFFFF">
                    <a:alpha val="70052"/>
                  </a:srgbClr>
                </a:solidFill>
                <a:latin typeface="Helvetica Light"/>
                <a:sym typeface="Helvetica Light"/>
              </a:defRPr>
            </a:lvl1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2800">
                <a:solidFill>
                  <a:srgbClr val="FFFFFF">
                    <a:alpha val="70052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2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55" y="1541411"/>
            <a:ext cx="2055761" cy="276308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07118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-远景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"/>
          <p:cNvSpPr txBox="1">
            <a:spLocks noGrp="1"/>
          </p:cNvSpPr>
          <p:nvPr>
            <p:ph type="body" sz="quarter" idx="13"/>
          </p:nvPr>
        </p:nvSpPr>
        <p:spPr>
          <a:xfrm>
            <a:off x="6044672" y="5560930"/>
            <a:ext cx="102657" cy="53912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lnSpc>
                <a:spcPct val="110000"/>
              </a:lnSpc>
              <a:spcBef>
                <a:spcPts val="1500"/>
              </a:spcBef>
              <a:buSzTx/>
              <a:buNone/>
              <a:defRPr sz="2800">
                <a:solidFill>
                  <a:srgbClr val="FFFFFF">
                    <a:alpha val="70052"/>
                  </a:srgbClr>
                </a:solidFill>
                <a:latin typeface="Helvetica Light"/>
                <a:sym typeface="Helvetica Light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3000"/>
              </a:spcBef>
              <a:buSzTx/>
              <a:buNone/>
              <a:defRPr sz="2800">
                <a:solidFill>
                  <a:srgbClr val="FFFFFF">
                    <a:alpha val="70052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3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43107" y="3961243"/>
            <a:ext cx="10305786" cy="63374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  <a:lvl2pPr marL="0" indent="11430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2pPr>
            <a:lvl3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3pPr>
            <a:lvl4pPr marL="0" indent="34290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4pPr>
            <a:lvl5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943107" y="681517"/>
            <a:ext cx="10305786" cy="3200037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pic>
        <p:nvPicPr>
          <p:cNvPr id="4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57" y="515350"/>
            <a:ext cx="1676086" cy="225277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287157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页 cop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age.png" descr="Pag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矩形"/>
          <p:cNvSpPr/>
          <p:nvPr/>
        </p:nvSpPr>
        <p:spPr>
          <a:xfrm>
            <a:off x="-5259" y="6543146"/>
            <a:ext cx="12192001" cy="14916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000"/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5" name="正文级别 1…"/>
          <p:cNvSpPr txBox="1">
            <a:spLocks noGrp="1"/>
          </p:cNvSpPr>
          <p:nvPr>
            <p:ph type="body" idx="1"/>
          </p:nvPr>
        </p:nvSpPr>
        <p:spPr>
          <a:xfrm>
            <a:off x="540464" y="1238291"/>
            <a:ext cx="11041936" cy="4441784"/>
          </a:xfrm>
          <a:prstGeom prst="rect">
            <a:avLst/>
          </a:prstGeom>
        </p:spPr>
        <p:txBody>
          <a:bodyPr/>
          <a:lstStyle>
            <a:lvl1pPr marL="224590" indent="-224590">
              <a:lnSpc>
                <a:spcPct val="100000"/>
              </a:lnSpc>
              <a:spcBef>
                <a:spcPts val="1250"/>
              </a:spcBef>
              <a:defRPr sz="1800">
                <a:solidFill>
                  <a:srgbClr val="303337"/>
                </a:solidFill>
              </a:defRPr>
            </a:lvl1pPr>
            <a:lvl2pPr marL="529389" indent="-224589">
              <a:lnSpc>
                <a:spcPct val="100000"/>
              </a:lnSpc>
              <a:spcBef>
                <a:spcPts val="1250"/>
              </a:spcBef>
              <a:defRPr sz="1800">
                <a:solidFill>
                  <a:srgbClr val="303337"/>
                </a:solidFill>
              </a:defRPr>
            </a:lvl2pPr>
            <a:lvl3pPr marL="834189" indent="-224589">
              <a:lnSpc>
                <a:spcPct val="100000"/>
              </a:lnSpc>
              <a:spcBef>
                <a:spcPts val="1250"/>
              </a:spcBef>
              <a:defRPr sz="1800">
                <a:solidFill>
                  <a:srgbClr val="303337"/>
                </a:solidFill>
              </a:defRPr>
            </a:lvl3pPr>
            <a:lvl4pPr marL="1138989" indent="-224589">
              <a:lnSpc>
                <a:spcPct val="100000"/>
              </a:lnSpc>
              <a:spcBef>
                <a:spcPts val="1250"/>
              </a:spcBef>
              <a:defRPr sz="1800">
                <a:solidFill>
                  <a:srgbClr val="303337"/>
                </a:solidFill>
              </a:defRPr>
            </a:lvl4pPr>
            <a:lvl5pPr marL="1443789" indent="-224589">
              <a:lnSpc>
                <a:spcPct val="100000"/>
              </a:lnSpc>
              <a:spcBef>
                <a:spcPts val="1250"/>
              </a:spcBef>
              <a:defRPr sz="1800">
                <a:solidFill>
                  <a:srgbClr val="303337"/>
                </a:solidFill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87" name="文本"/>
          <p:cNvSpPr txBox="1">
            <a:spLocks noGrp="1"/>
          </p:cNvSpPr>
          <p:nvPr>
            <p:ph type="body" sz="quarter" idx="13"/>
          </p:nvPr>
        </p:nvSpPr>
        <p:spPr>
          <a:xfrm>
            <a:off x="532029" y="493795"/>
            <a:ext cx="11041937" cy="570413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800" baseline="0">
                <a:solidFill>
                  <a:srgbClr val="034FD8"/>
                </a:solidFill>
                <a:latin typeface="微软雅黑" panose="020B0503020204020204" pitchFamily="34" charset="-122"/>
                <a:sym typeface="Helvetica Light"/>
              </a:defRPr>
            </a:lvl1pPr>
          </a:lstStyle>
          <a:p>
            <a:pPr marL="0" indent="0">
              <a:spcBef>
                <a:spcPts val="0"/>
              </a:spcBef>
              <a:buSzTx/>
              <a:buNone/>
              <a:defRPr sz="3800">
                <a:solidFill>
                  <a:srgbClr val="034FD8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</p:txBody>
      </p:sp>
      <p:sp>
        <p:nvSpPr>
          <p:cNvPr id="88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8290823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8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76492111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页-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"/>
          <p:cNvSpPr/>
          <p:nvPr/>
        </p:nvSpPr>
        <p:spPr>
          <a:xfrm>
            <a:off x="-5259" y="6543146"/>
            <a:ext cx="7591955" cy="1356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10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7581438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048464" y="1622954"/>
            <a:ext cx="5484511" cy="4619096"/>
          </a:xfrm>
          <a:prstGeom prst="rect">
            <a:avLst/>
          </a:prstGeom>
        </p:spPr>
        <p:txBody>
          <a:bodyPr/>
          <a:lstStyle>
            <a:lvl1pPr marL="406400" indent="-406400"/>
            <a:lvl2pPr marL="711200" indent="-406400"/>
            <a:lvl3pPr marL="1016000" indent="-406400"/>
            <a:lvl4pPr marL="1320800" indent="-406400"/>
            <a:lvl5pPr marL="1625600" indent="-40640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8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109" name="tencent_left.png"/>
          <p:cNvSpPr>
            <a:spLocks noGrp="1"/>
          </p:cNvSpPr>
          <p:nvPr>
            <p:ph type="pic" sz="half" idx="13"/>
          </p:nvPr>
        </p:nvSpPr>
        <p:spPr>
          <a:xfrm>
            <a:off x="7572706" y="794"/>
            <a:ext cx="4638220" cy="68564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0" name="标题文本"/>
          <p:cNvSpPr txBox="1">
            <a:spLocks noGrp="1"/>
          </p:cNvSpPr>
          <p:nvPr>
            <p:ph type="title"/>
          </p:nvPr>
        </p:nvSpPr>
        <p:spPr>
          <a:xfrm>
            <a:off x="727789" y="180777"/>
            <a:ext cx="6125861" cy="1016662"/>
          </a:xfrm>
          <a:prstGeom prst="rect">
            <a:avLst/>
          </a:prstGeom>
        </p:spPr>
        <p:txBody>
          <a:bodyPr anchor="b"/>
          <a:lstStyle>
            <a:lvl1pPr algn="l">
              <a:defRPr sz="2600" b="0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111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56667" y="0"/>
            <a:ext cx="12192001" cy="6858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9735989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页-右侧图片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"/>
          <p:cNvSpPr/>
          <p:nvPr/>
        </p:nvSpPr>
        <p:spPr>
          <a:xfrm>
            <a:off x="-5259" y="6543146"/>
            <a:ext cx="7591955" cy="1356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000"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7581438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048464" y="1622954"/>
            <a:ext cx="5484511" cy="4619096"/>
          </a:xfrm>
          <a:prstGeom prst="rect">
            <a:avLst/>
          </a:prstGeom>
        </p:spPr>
        <p:txBody>
          <a:bodyPr/>
          <a:lstStyle>
            <a:lvl1pPr marL="406400" indent="-406400"/>
            <a:lvl2pPr marL="711200" indent="-406400"/>
            <a:lvl3pPr marL="1016000" indent="-406400"/>
            <a:lvl4pPr marL="1320800" indent="-406400"/>
            <a:lvl5pPr marL="1625600" indent="-40640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1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000"/>
          </a:p>
        </p:txBody>
      </p:sp>
      <p:sp>
        <p:nvSpPr>
          <p:cNvPr id="122" name="tencent_left.png"/>
          <p:cNvSpPr>
            <a:spLocks noGrp="1"/>
          </p:cNvSpPr>
          <p:nvPr>
            <p:ph type="pic" sz="half" idx="13"/>
          </p:nvPr>
        </p:nvSpPr>
        <p:spPr>
          <a:xfrm>
            <a:off x="7572706" y="794"/>
            <a:ext cx="4638220" cy="68564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3" name="标题文本"/>
          <p:cNvSpPr txBox="1">
            <a:spLocks noGrp="1"/>
          </p:cNvSpPr>
          <p:nvPr>
            <p:ph type="title"/>
          </p:nvPr>
        </p:nvSpPr>
        <p:spPr>
          <a:xfrm>
            <a:off x="727789" y="180777"/>
            <a:ext cx="6125861" cy="1018283"/>
          </a:xfrm>
          <a:prstGeom prst="rect">
            <a:avLst/>
          </a:prstGeom>
        </p:spPr>
        <p:txBody>
          <a:bodyPr anchor="b"/>
          <a:lstStyle>
            <a:lvl1pPr algn="l">
              <a:defRPr sz="2600" b="0">
                <a:solidFill>
                  <a:srgbClr val="034F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124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56667" y="0"/>
            <a:ext cx="12192001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矩形"/>
          <p:cNvSpPr/>
          <p:nvPr/>
        </p:nvSpPr>
        <p:spPr>
          <a:xfrm>
            <a:off x="-7971" y="712953"/>
            <a:ext cx="696351" cy="450256"/>
          </a:xfrm>
          <a:prstGeom prst="rect">
            <a:avLst/>
          </a:prstGeom>
          <a:solidFill>
            <a:srgbClr val="0252D8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000"/>
          </a:p>
        </p:txBody>
      </p:sp>
      <p:sp>
        <p:nvSpPr>
          <p:cNvPr id="126" name="1"/>
          <p:cNvSpPr txBox="1">
            <a:spLocks noGrp="1"/>
          </p:cNvSpPr>
          <p:nvPr>
            <p:ph type="body" sz="quarter" idx="14"/>
          </p:nvPr>
        </p:nvSpPr>
        <p:spPr>
          <a:xfrm>
            <a:off x="-61587" y="649155"/>
            <a:ext cx="803583" cy="577851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lvl="1" indent="11430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2236176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"/>
          <p:cNvSpPr/>
          <p:nvPr/>
        </p:nvSpPr>
        <p:spPr>
          <a:xfrm>
            <a:off x="-5259" y="6543146"/>
            <a:ext cx="12192001" cy="321172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134" name="tencent1.png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566190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"/>
          <p:cNvSpPr/>
          <p:nvPr/>
        </p:nvSpPr>
        <p:spPr>
          <a:xfrm>
            <a:off x="-5259" y="6543146"/>
            <a:ext cx="12192001" cy="321172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143" name="cctv.png"/>
          <p:cNvSpPr>
            <a:spLocks noGrp="1"/>
          </p:cNvSpPr>
          <p:nvPr>
            <p:ph type="pic" sz="half" idx="13"/>
          </p:nvPr>
        </p:nvSpPr>
        <p:spPr>
          <a:xfrm>
            <a:off x="6094710" y="3429000"/>
            <a:ext cx="6097234" cy="342774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" name="VCG41108918332.jpg"/>
          <p:cNvSpPr>
            <a:spLocks noGrp="1"/>
          </p:cNvSpPr>
          <p:nvPr>
            <p:ph type="pic" sz="half" idx="14"/>
          </p:nvPr>
        </p:nvSpPr>
        <p:spPr>
          <a:xfrm>
            <a:off x="6094909" y="2137"/>
            <a:ext cx="6096881" cy="34262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j.png"/>
          <p:cNvSpPr>
            <a:spLocks noGrp="1"/>
          </p:cNvSpPr>
          <p:nvPr>
            <p:ph type="pic" idx="15"/>
          </p:nvPr>
        </p:nvSpPr>
        <p:spPr>
          <a:xfrm>
            <a:off x="-2330" y="99"/>
            <a:ext cx="6097402" cy="68578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7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1535676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155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413652" y="4467225"/>
            <a:ext cx="9371046" cy="34881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1600" i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56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413652" y="3100706"/>
            <a:ext cx="9371046" cy="65659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“Type a quote here.”</a:t>
            </a:r>
          </a:p>
        </p:txBody>
      </p:sp>
      <p:sp>
        <p:nvSpPr>
          <p:cNvPr id="15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3175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8" name="矩形"/>
          <p:cNvSpPr/>
          <p:nvPr/>
        </p:nvSpPr>
        <p:spPr>
          <a:xfrm>
            <a:off x="-5259" y="6543146"/>
            <a:ext cx="12202518" cy="13428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pic>
        <p:nvPicPr>
          <p:cNvPr id="159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9960834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页-黑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7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pic>
        <p:nvPicPr>
          <p:cNvPr id="168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312170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页-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177" name="矩形"/>
          <p:cNvSpPr/>
          <p:nvPr/>
        </p:nvSpPr>
        <p:spPr>
          <a:xfrm>
            <a:off x="-5259" y="6543146"/>
            <a:ext cx="12202518" cy="13428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pic>
        <p:nvPicPr>
          <p:cNvPr id="178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0762678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页-腾讯蓝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矩形"/>
          <p:cNvSpPr/>
          <p:nvPr/>
        </p:nvSpPr>
        <p:spPr>
          <a:xfrm>
            <a:off x="-5259" y="6543146"/>
            <a:ext cx="12192001" cy="321172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18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7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pic>
        <p:nvPicPr>
          <p:cNvPr id="188" name="Page.png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218816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957" y="515350"/>
            <a:ext cx="1676086" cy="225277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hanks"/>
          <p:cNvSpPr txBox="1"/>
          <p:nvPr/>
        </p:nvSpPr>
        <p:spPr>
          <a:xfrm>
            <a:off x="3324352" y="2398101"/>
            <a:ext cx="4095032" cy="2205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8000" spc="-140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r>
              <a:rPr sz="14000"/>
              <a:t>Thanks</a:t>
            </a:r>
          </a:p>
        </p:txBody>
      </p:sp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98134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-带纹理"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1-01.png" descr="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" y="0"/>
            <a:ext cx="1218341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hanks"/>
          <p:cNvSpPr txBox="1"/>
          <p:nvPr/>
        </p:nvSpPr>
        <p:spPr>
          <a:xfrm>
            <a:off x="561488" y="1665817"/>
            <a:ext cx="4276812" cy="1821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23000" spc="-1150">
                <a:solidFill>
                  <a:srgbClr val="FFFFFF"/>
                </a:solidFill>
                <a:latin typeface="+mn-lt"/>
                <a:ea typeface="+mn-ea"/>
                <a:cs typeface="+mn-cs"/>
                <a:sym typeface="TTTGBMedium"/>
              </a:defRPr>
            </a:lvl1pPr>
          </a:lstStyle>
          <a:p>
            <a:r>
              <a:rPr sz="115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Thanks</a:t>
            </a:r>
          </a:p>
        </p:txBody>
      </p:sp>
      <p:sp>
        <p:nvSpPr>
          <p:cNvPr id="20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0" y="6586256"/>
            <a:ext cx="12192001" cy="2872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434356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54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15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78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90B88-DA0D-44A5-9C75-67CD7CB1A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EA4F7C-512C-4CDA-BE2A-500190AB0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544B5-F864-46FD-AE60-0DD9A5D9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028E3-D30A-42E3-AC10-A0102DC2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BF6F7-5146-4752-A10E-ECD42478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038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9800D-3925-4E25-A35D-52FDAA67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0B7DC-8966-4C55-8A53-EF3659D1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575E6-63D2-42CF-9FFC-E692852B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E7A779-C36D-42DF-A69F-C9BB51B5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D17856-D21A-4D65-ACCA-6DC9C80C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73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B4906-D435-4EEF-A0C7-7A6BA3C2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0EFDF9-434A-4B54-A5E3-52286A67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DFF4F5-7867-436A-8043-AF47BF87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6CDA58-9844-4D89-8938-166ECA27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5B436-76F2-4985-9EC7-3CFF53B4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35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94556-546E-4825-BDD5-4E319D9D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AAA2B-E62C-4262-92DF-7B48F21B5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5F4B04-CCFF-4CD1-B2D6-6A9FA6F6D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CBB36-D741-4023-AC1B-BE4B8E7C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0F103-D397-4148-9AAD-803743C0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6AB73C-F932-4308-B0DC-2C810BDC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619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070F4-3C67-406E-92A6-C7FFF847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174AA-67CA-464B-85E7-3AC8F1AE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14A7E5-0E73-4145-A8D4-50B1908C7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7862DB-D28A-4006-A285-49A0E3C8E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F93852-4AC1-43EC-8BD6-D095B1016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9B8FED-12C8-4618-A59E-A7E843F7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2AC27C-E6E6-4FD2-9CBE-B0EA044F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F3EF5E-A852-4742-BF68-2BB1948E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668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EFEF8-9CF0-44B4-88F7-70678A6D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E36C8A-83C2-49CA-B8BF-D6E18972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302646-FA2E-4427-8017-9376532B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2E7A5C-7E94-4DBA-B111-E00A4B42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554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8D2317-0D0D-46C9-95D6-C45A1801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524E62-7CE6-423C-9FC5-7B0F9FDD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A5D13-7DE7-486E-975D-9972DBBD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47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88880-02AB-4AE3-A143-0D93ED2E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C355D-7B15-4F67-AE49-CB53D285C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6D2205-D6D9-43C2-A24C-68B30FF30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675922-2D37-4339-B3E3-2D426DC7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43D53E-1442-4243-96F4-5E548A96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4E82B0-7A1E-4481-8560-E658221F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53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2DC53-E3C1-4941-951D-33C6A20B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E0BBA1-E54E-4C2A-99A2-DDDCBD639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6D0A31-D0A1-4691-AE8C-C1AC16D59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18AFAB-D10A-49E8-861B-5EEE463F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29F596-2BD7-4AE2-BE2F-549B3200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939A88-E4BF-4912-A5A7-60415EF1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50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8135B-A690-400F-ACD5-AD4FF7E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D61D55-AFE8-43E2-86A6-0FC100B1D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A8DEB-1CE7-486B-8E1A-72308F90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4A3B0-911A-4458-B542-F37584C0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A9A14-1D53-43C8-A4DF-CCAF7151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465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8235C2-3E71-4EB3-B104-E14462B1E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73ECE3-7F97-47FD-931C-CAABA0B7A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8F956-1C13-4DD5-A5E1-426BA0D8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9BF1E-A1E6-4CB3-8AB9-C9BE5EF9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75CC6-B27A-4BBE-8C28-7CA000CD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24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5259" y="6543146"/>
            <a:ext cx="12192001" cy="13461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1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900"/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87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127000" algn="r">
              <a:defRPr sz="1200">
                <a:solidFill>
                  <a:schemeClr val="accent6">
                    <a:hueOff val="7068528"/>
                    <a:satOff val="-63217"/>
                    <a:lumOff val="21330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Freeform 5"/>
          <p:cNvSpPr/>
          <p:nvPr/>
        </p:nvSpPr>
        <p:spPr>
          <a:xfrm>
            <a:off x="122832" y="6613782"/>
            <a:ext cx="211536" cy="179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0"/>
                </a:moveTo>
                <a:lnTo>
                  <a:pt x="0" y="21600"/>
                </a:lnTo>
                <a:lnTo>
                  <a:pt x="18370" y="21600"/>
                </a:lnTo>
                <a:lnTo>
                  <a:pt x="21600" y="0"/>
                </a:lnTo>
                <a:lnTo>
                  <a:pt x="3230" y="0"/>
                </a:lnTo>
                <a:close/>
                <a:moveTo>
                  <a:pt x="12343" y="8334"/>
                </a:moveTo>
                <a:lnTo>
                  <a:pt x="10848" y="18595"/>
                </a:lnTo>
                <a:lnTo>
                  <a:pt x="8437" y="18595"/>
                </a:lnTo>
                <a:lnTo>
                  <a:pt x="9932" y="8334"/>
                </a:lnTo>
                <a:lnTo>
                  <a:pt x="6220" y="8334"/>
                </a:lnTo>
                <a:lnTo>
                  <a:pt x="5062" y="6576"/>
                </a:lnTo>
                <a:lnTo>
                  <a:pt x="10173" y="6576"/>
                </a:lnTo>
                <a:lnTo>
                  <a:pt x="10752" y="3005"/>
                </a:lnTo>
                <a:lnTo>
                  <a:pt x="17116" y="8334"/>
                </a:lnTo>
                <a:lnTo>
                  <a:pt x="12343" y="8334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2700">
            <a:miter lim="400000"/>
          </a:ln>
        </p:spPr>
        <p:txBody>
          <a:bodyPr lIns="22860" rIns="22860"/>
          <a:lstStyle/>
          <a:p>
            <a:pPr defTabSz="4572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895350" y="1822450"/>
            <a:ext cx="10407650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6" name="Page.png" descr="P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895350" y="285750"/>
            <a:ext cx="10407650" cy="149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153594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91" r:id="rId16"/>
    <p:sldLayoutId id="2147483693" r:id="rId17"/>
    <p:sldLayoutId id="2147483694" r:id="rId18"/>
  </p:sldLayoutIdLst>
  <p:transition spd="med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1pPr>
      <a:lvl2pPr marL="0" marR="0" indent="1143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2pPr>
      <a:lvl3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3pPr>
      <a:lvl4pPr marL="0" marR="0" indent="3429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4pPr>
      <a:lvl5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5pPr>
      <a:lvl6pPr marL="0" marR="0" indent="5715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6pPr>
      <a:lvl7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7pPr>
      <a:lvl8pPr marL="0" marR="0" indent="8001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8pPr>
      <a:lvl9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900" b="1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TTTGBMedium"/>
        </a:defRPr>
      </a:lvl9pPr>
    </p:titleStyle>
    <p:bodyStyle>
      <a:lvl1pPr marL="2813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1pPr>
      <a:lvl2pPr marL="5861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2pPr>
      <a:lvl3pPr marL="8909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3pPr>
      <a:lvl4pPr marL="11957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4pPr>
      <a:lvl5pPr marL="15005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5pPr>
      <a:lvl6pPr marL="18053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6pPr>
      <a:lvl7pPr marL="21101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7pPr>
      <a:lvl8pPr marL="24149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8pPr>
      <a:lvl9pPr marL="2719754" marR="0" indent="-281354" algn="l" defTabSz="412750" rtl="0" latinLnBrk="0">
        <a:lnSpc>
          <a:spcPct val="80000"/>
        </a:lnSpc>
        <a:spcBef>
          <a:spcPts val="250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chemeClr val="accent6">
              <a:hueOff val="10811956"/>
              <a:satOff val="-58544"/>
              <a:lumOff val="-9736"/>
            </a:schemeClr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127000" indent="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127000" indent="1143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127000" indent="2286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127000" indent="3429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127000" indent="4572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127000" indent="5715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127000" indent="6858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127000" indent="8001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127000" indent="914400" algn="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22C509-D9D2-406C-8DD1-8949821C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BA8658-6262-41A0-B6F4-60AF87878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9C6B3-5658-40D1-925C-CD35DA640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E522-6C4D-40B6-AA5F-D75C64A45910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691ED6-CC7C-4083-80CD-B078E0ABC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2ECEE-8FC1-4DF2-AF31-3D946699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FDBF0-949E-4B8D-AEA6-4E8069038B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7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共享 连接的力量"/>
          <p:cNvSpPr txBox="1">
            <a:spLocks noGrp="1"/>
          </p:cNvSpPr>
          <p:nvPr>
            <p:ph type="title"/>
          </p:nvPr>
        </p:nvSpPr>
        <p:spPr>
          <a:xfrm>
            <a:off x="695457" y="2123173"/>
            <a:ext cx="11082413" cy="12081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54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李彦峰（</a:t>
            </a:r>
            <a:r>
              <a:rPr lang="en-US" altLang="zh-CN" sz="5400" dirty="0" err="1">
                <a:latin typeface="腾讯体 W7" panose="020C08030202040F0204" pitchFamily="34" charset="-122"/>
                <a:ea typeface="腾讯体 W7" panose="020C08030202040F0204" pitchFamily="34" charset="-122"/>
              </a:rPr>
              <a:t>zentiali</a:t>
            </a:r>
            <a:r>
              <a:rPr lang="zh-CN" altLang="en-US" sz="54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）职级评审陈述</a:t>
            </a:r>
            <a:endParaRPr sz="5400" dirty="0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216" name="Sharing The Power To Connect"/>
          <p:cNvSpPr txBox="1">
            <a:spLocks noGrp="1"/>
          </p:cNvSpPr>
          <p:nvPr>
            <p:ph type="body" sz="quarter" idx="1"/>
          </p:nvPr>
        </p:nvSpPr>
        <p:spPr>
          <a:xfrm>
            <a:off x="695457" y="3313185"/>
            <a:ext cx="10305786" cy="1107385"/>
          </a:xfrm>
          <a:prstGeom prst="rect">
            <a:avLst/>
          </a:prstGeom>
        </p:spPr>
        <p:txBody>
          <a:bodyPr>
            <a:noAutofit/>
          </a:bodyPr>
          <a:lstStyle>
            <a:lvl1pPr defTabSz="338454">
              <a:defRPr sz="6969"/>
            </a:lvl1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当前部门：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 IEG- 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天美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L2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工作室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- OS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项目组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- 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客户端二组</a:t>
            </a:r>
            <a:endParaRPr lang="en-US" altLang="zh-CN" sz="1800" dirty="0">
              <a:latin typeface="腾讯体 W7" panose="020C08030202040F0204" pitchFamily="34" charset="-122"/>
              <a:ea typeface="腾讯体 W7" panose="020C08030202040F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当前职级信息：技术研发类 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- 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游戏客户端开发 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9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级</a:t>
            </a:r>
            <a:endParaRPr lang="en-US" altLang="zh-CN" sz="1800" dirty="0">
              <a:latin typeface="腾讯体 W7" panose="020C08030202040F0204" pitchFamily="34" charset="-122"/>
              <a:ea typeface="腾讯体 W7" panose="020C08030202040F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目标职级信息：技术研发类 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- 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游戏客户端开发 </a:t>
            </a:r>
            <a:r>
              <a:rPr lang="en-US" altLang="zh-CN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10</a:t>
            </a:r>
            <a:r>
              <a:rPr lang="zh-CN" altLang="en-US" sz="1800" dirty="0">
                <a:latin typeface="腾讯体 W7" panose="020C08030202040F0204" pitchFamily="34" charset="-122"/>
                <a:ea typeface="腾讯体 W7" panose="020C08030202040F0204" pitchFamily="34" charset="-122"/>
              </a:rPr>
              <a:t>级</a:t>
            </a:r>
            <a:endParaRPr lang="en-US" altLang="zh-CN" sz="1800" dirty="0"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  <p:sp>
        <p:nvSpPr>
          <p:cNvPr id="11" name="Keynote模版使用Demo…">
            <a:extLst>
              <a:ext uri="{FF2B5EF4-FFF2-40B4-BE49-F238E27FC236}">
                <a16:creationId xmlns:a16="http://schemas.microsoft.com/office/drawing/2014/main" id="{111CD994-82D6-4371-9B9B-07A388A254C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95457" y="5753992"/>
            <a:ext cx="1049967" cy="3561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2200">
                <a:solidFill>
                  <a:srgbClr val="FFFFFF">
                    <a:alpha val="70052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altLang="zh-CN" sz="16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2024</a:t>
            </a:r>
            <a:r>
              <a:rPr lang="zh-CN" altLang="en-US" sz="16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年</a:t>
            </a:r>
            <a:r>
              <a:rPr lang="en-US" altLang="zh-CN" sz="16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</a:t>
            </a:r>
            <a:r>
              <a:rPr lang="zh-CN" altLang="en-US" sz="16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月</a:t>
            </a:r>
            <a:endParaRPr lang="en-US" sz="16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6A514-6228-46F3-BDCA-2C966B3FF2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1486" y="299324"/>
            <a:ext cx="10297588" cy="841256"/>
          </a:xfrm>
        </p:spPr>
        <p:txBody>
          <a:bodyPr/>
          <a:lstStyle/>
          <a:p>
            <a:pPr algn="ctr"/>
            <a:r>
              <a:rPr lang="zh-CN" altLang="en-US" sz="6000" dirty="0">
                <a:solidFill>
                  <a:srgbClr val="000000"/>
                </a:solidFill>
                <a:latin typeface="+mj-ea"/>
                <a:ea typeface="+mj-ea"/>
              </a:rPr>
              <a:t>个人介绍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D7A8A31-CED6-07FA-C886-EF0C3C01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644303"/>
              </p:ext>
            </p:extLst>
          </p:nvPr>
        </p:nvGraphicFramePr>
        <p:xfrm>
          <a:off x="687010" y="1338503"/>
          <a:ext cx="9961638" cy="16011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val="3235313396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762718257"/>
                    </a:ext>
                  </a:extLst>
                </a:gridCol>
                <a:gridCol w="7058781">
                  <a:extLst>
                    <a:ext uri="{9D8B030D-6E8A-4147-A177-3AD203B41FA5}">
                      <a16:colId xmlns:a16="http://schemas.microsoft.com/office/drawing/2014/main" val="1424848534"/>
                    </a:ext>
                  </a:extLst>
                </a:gridCol>
              </a:tblGrid>
              <a:tr h="533703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2014-2018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北京像素软件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《</a:t>
                      </a:r>
                      <a:r>
                        <a:rPr lang="zh-CN" altLang="en-US" dirty="0"/>
                        <a:t>寻仙手游</a:t>
                      </a:r>
                      <a:r>
                        <a:rPr lang="en-US" altLang="zh-CN" dirty="0"/>
                        <a:t>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99328"/>
                  </a:ext>
                </a:extLst>
              </a:tr>
              <a:tr h="533703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latin typeface="+mn-lt"/>
                          <a:ea typeface="+mj-ea"/>
                        </a:rPr>
                        <a:t>2018-2020</a:t>
                      </a:r>
                      <a:endParaRPr lang="zh-CN" altLang="en-US" dirty="0">
                        <a:latin typeface="+mn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珠海西山居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《</a:t>
                      </a:r>
                      <a:r>
                        <a:rPr lang="zh-CN" altLang="en-US" dirty="0"/>
                        <a:t>剑网三指尖江湖</a:t>
                      </a:r>
                      <a:r>
                        <a:rPr lang="en-US" altLang="zh-CN" dirty="0"/>
                        <a:t>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214458"/>
                  </a:ext>
                </a:extLst>
              </a:tr>
              <a:tr h="533703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2020-</a:t>
                      </a:r>
                      <a:r>
                        <a:rPr lang="zh-CN" altLang="en-US" dirty="0"/>
                        <a:t>至今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腾讯天美工作室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《</a:t>
                      </a:r>
                      <a:r>
                        <a:rPr lang="zh-CN" altLang="en-US" dirty="0"/>
                        <a:t>王者万象棋</a:t>
                      </a:r>
                      <a:r>
                        <a:rPr lang="en-US" altLang="zh-CN" dirty="0"/>
                        <a:t>》《</a:t>
                      </a:r>
                      <a:r>
                        <a:rPr lang="en-US" altLang="zh-CN" dirty="0" err="1"/>
                        <a:t>ZPlan</a:t>
                      </a:r>
                      <a:r>
                        <a:rPr lang="zh-CN" altLang="en-US" dirty="0"/>
                        <a:t>音游</a:t>
                      </a:r>
                      <a:r>
                        <a:rPr lang="en-US" altLang="zh-CN" dirty="0"/>
                        <a:t>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97226"/>
                  </a:ext>
                </a:extLst>
              </a:tr>
            </a:tbl>
          </a:graphicData>
        </a:graphic>
      </p:graphicFrame>
      <p:sp>
        <p:nvSpPr>
          <p:cNvPr id="8" name="文本占位符 3">
            <a:extLst>
              <a:ext uri="{FF2B5EF4-FFF2-40B4-BE49-F238E27FC236}">
                <a16:creationId xmlns:a16="http://schemas.microsoft.com/office/drawing/2014/main" id="{C70CB07A-B153-F211-9EE7-119755E86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010" y="3062668"/>
            <a:ext cx="11042650" cy="2798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分享课程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《ZPlan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性能优化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《Unity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引擎分享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>
              <a:lnSpc>
                <a:spcPct val="150000"/>
              </a:lnSpc>
              <a:defRPr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05945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285750"/>
            <a:ext cx="10407650" cy="113665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xLua-il2cpp </a:t>
            </a:r>
            <a:r>
              <a:rPr lang="zh-CN" altLang="en-US" sz="60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优化</a:t>
            </a:r>
            <a:endParaRPr sz="60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350" y="1597163"/>
            <a:ext cx="10407650" cy="4419600"/>
          </a:xfrm>
        </p:spPr>
        <p:txBody>
          <a:bodyPr anchor="ctr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b="1" dirty="0" err="1">
                <a:latin typeface="+mn-lt"/>
              </a:rPr>
              <a:t>传统模式</a:t>
            </a:r>
            <a:r>
              <a:rPr dirty="0" err="1">
                <a:latin typeface="+mn-lt"/>
              </a:rPr>
              <a:t>：C</a:t>
            </a:r>
            <a:r>
              <a:rPr dirty="0">
                <a:latin typeface="+mn-lt"/>
              </a:rPr>
              <a:t># → </a:t>
            </a:r>
            <a:r>
              <a:rPr dirty="0" err="1">
                <a:latin typeface="+mn-lt"/>
              </a:rPr>
              <a:t>PInvoke</a:t>
            </a:r>
            <a:r>
              <a:rPr dirty="0">
                <a:latin typeface="+mn-lt"/>
              </a:rPr>
              <a:t> → Native Plugin → Lua</a:t>
            </a:r>
            <a:br>
              <a:rPr dirty="0">
                <a:latin typeface="+mn-lt"/>
              </a:rPr>
            </a:br>
            <a:r>
              <a:rPr b="1" dirty="0">
                <a:latin typeface="+mn-lt"/>
              </a:rPr>
              <a:t>il2cpp 模式</a:t>
            </a:r>
            <a:r>
              <a:rPr dirty="0">
                <a:latin typeface="+mn-lt"/>
              </a:rPr>
              <a:t>：il2cpp → </a:t>
            </a:r>
            <a:r>
              <a:rPr dirty="0" err="1">
                <a:latin typeface="+mn-lt"/>
              </a:rPr>
              <a:t>直接调用</a:t>
            </a:r>
            <a:r>
              <a:rPr dirty="0">
                <a:latin typeface="+mn-lt"/>
              </a:rPr>
              <a:t> → Native Plugin → Lua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核心目标</a:t>
            </a:r>
            <a:endParaRPr b="1"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✅ </a:t>
            </a:r>
            <a:r>
              <a:rPr dirty="0" err="1">
                <a:latin typeface="+mn-lt"/>
              </a:rPr>
              <a:t>消除</a:t>
            </a:r>
            <a:r>
              <a:rPr dirty="0">
                <a:latin typeface="+mn-lt"/>
              </a:rPr>
              <a:t> </a:t>
            </a:r>
            <a:r>
              <a:rPr dirty="0" err="1">
                <a:latin typeface="+mn-lt"/>
              </a:rPr>
              <a:t>PInvoke</a:t>
            </a:r>
            <a:r>
              <a:rPr dirty="0">
                <a:latin typeface="+mn-lt"/>
              </a:rPr>
              <a:t> </a:t>
            </a:r>
            <a:r>
              <a:rPr dirty="0" err="1">
                <a:latin typeface="+mn-lt"/>
              </a:rPr>
              <a:t>开销（节省</a:t>
            </a:r>
            <a:r>
              <a:rPr dirty="0">
                <a:latin typeface="+mn-lt"/>
              </a:rPr>
              <a:t> 50-80ns）</a:t>
            </a:r>
          </a:p>
          <a:p>
            <a:pPr lvl="0"/>
            <a:r>
              <a:rPr dirty="0">
                <a:latin typeface="+mn-lt"/>
              </a:rPr>
              <a:t>✅ </a:t>
            </a:r>
            <a:r>
              <a:rPr dirty="0" err="1">
                <a:latin typeface="+mn-lt"/>
              </a:rPr>
              <a:t>减少</a:t>
            </a:r>
            <a:r>
              <a:rPr dirty="0">
                <a:latin typeface="+mn-lt"/>
              </a:rPr>
              <a:t> GC </a:t>
            </a:r>
            <a:r>
              <a:rPr dirty="0" err="1">
                <a:latin typeface="+mn-lt"/>
              </a:rPr>
              <a:t>分配（泛型、枚举、值类型</a:t>
            </a:r>
            <a:r>
              <a:rPr dirty="0">
                <a:latin typeface="+mn-lt"/>
              </a:rPr>
              <a:t> 0 GC）</a:t>
            </a:r>
          </a:p>
          <a:p>
            <a:pPr lvl="0"/>
            <a:r>
              <a:rPr dirty="0">
                <a:latin typeface="+mn-lt"/>
              </a:rPr>
              <a:t>✅ </a:t>
            </a:r>
            <a:r>
              <a:rPr dirty="0" err="1">
                <a:latin typeface="+mn-lt"/>
              </a:rPr>
              <a:t>提升调用性能</a:t>
            </a:r>
            <a:r>
              <a:rPr dirty="0">
                <a:latin typeface="+mn-lt"/>
              </a:rPr>
              <a:t> </a:t>
            </a:r>
            <a:r>
              <a:rPr b="1" dirty="0">
                <a:latin typeface="+mn-lt"/>
              </a:rPr>
              <a:t>2-5倍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性能提升</a:t>
            </a:r>
            <a:endParaRPr b="1"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⚡ </a:t>
            </a:r>
            <a:r>
              <a:rPr dirty="0" err="1">
                <a:latin typeface="+mn-lt"/>
              </a:rPr>
              <a:t>函数调用</a:t>
            </a:r>
            <a:r>
              <a:rPr dirty="0">
                <a:latin typeface="+mn-lt"/>
              </a:rPr>
              <a:t>：~100ns → ~20ns（</a:t>
            </a:r>
            <a:r>
              <a:rPr b="1" dirty="0">
                <a:latin typeface="+mn-lt"/>
              </a:rPr>
              <a:t>5倍</a:t>
            </a:r>
            <a:r>
              <a:rPr dirty="0">
                <a:latin typeface="+mn-lt"/>
              </a:rPr>
              <a:t>）</a:t>
            </a:r>
          </a:p>
          <a:p>
            <a:pPr lvl="0"/>
            <a:r>
              <a:rPr dirty="0">
                <a:latin typeface="+mn-lt"/>
              </a:rPr>
              <a:t>⚡ </a:t>
            </a:r>
            <a:r>
              <a:rPr dirty="0" err="1">
                <a:latin typeface="+mn-lt"/>
              </a:rPr>
              <a:t>直接内存访问：</a:t>
            </a:r>
            <a:r>
              <a:rPr b="1" dirty="0" err="1">
                <a:latin typeface="+mn-lt"/>
              </a:rPr>
              <a:t>提升</a:t>
            </a:r>
            <a:r>
              <a:rPr b="1" dirty="0">
                <a:latin typeface="+mn-lt"/>
              </a:rPr>
              <a:t> 2-3倍</a:t>
            </a:r>
          </a:p>
          <a:p>
            <a:pPr lvl="0"/>
            <a:r>
              <a:rPr dirty="0">
                <a:latin typeface="+mn-lt"/>
              </a:rPr>
              <a:t>🚫 泛型、枚举、值类型：</a:t>
            </a:r>
            <a:r>
              <a:rPr b="1" dirty="0">
                <a:latin typeface="+mn-lt"/>
              </a:rPr>
              <a:t>0 GC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>
                <a:solidFill>
                  <a:srgbClr val="000000"/>
                </a:solidFill>
                <a:latin typeface="+mj-lt"/>
              </a:rPr>
              <a:t>核心优化思路</a:t>
            </a:r>
            <a:endParaRPr sz="6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dirty="0">
                <a:latin typeface="+mn-lt"/>
              </a:rPr>
              <a:t>┌─────────┐    </a:t>
            </a:r>
            <a:r>
              <a:rPr dirty="0" err="1">
                <a:latin typeface="+mn-lt"/>
              </a:rPr>
              <a:t>直接调用</a:t>
            </a:r>
            <a:r>
              <a:rPr dirty="0">
                <a:latin typeface="+mn-lt"/>
              </a:rPr>
              <a:t>      </a:t>
            </a:r>
            <a:r>
              <a:rPr lang="en-US" dirty="0">
                <a:latin typeface="+mn-lt"/>
              </a:rPr>
              <a:t>       </a:t>
            </a:r>
            <a:r>
              <a:rPr dirty="0">
                <a:latin typeface="+mn-lt"/>
              </a:rPr>
              <a:t>┌─────┐
│ il2cpp  </a:t>
            </a:r>
            <a:r>
              <a:rPr lang="en-US" dirty="0">
                <a:latin typeface="+mn-lt"/>
              </a:rPr>
              <a:t>      </a:t>
            </a:r>
            <a:r>
              <a:rPr dirty="0">
                <a:latin typeface="+mn-lt"/>
              </a:rPr>
              <a:t>│ ──────────────&gt; │ Lua </a:t>
            </a:r>
            <a:r>
              <a:rPr lang="en-US" dirty="0">
                <a:latin typeface="+mn-lt"/>
              </a:rPr>
              <a:t>   </a:t>
            </a:r>
            <a:r>
              <a:rPr dirty="0">
                <a:latin typeface="+mn-lt"/>
              </a:rPr>
              <a:t>│
└─────────┘                 </a:t>
            </a:r>
            <a:r>
              <a:rPr lang="en-US" dirty="0">
                <a:latin typeface="+mn-lt"/>
              </a:rPr>
              <a:t>                  </a:t>
            </a:r>
            <a:r>
              <a:rPr dirty="0">
                <a:latin typeface="+mn-lt"/>
              </a:rPr>
              <a:t>└─────┘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设计原则</a:t>
            </a:r>
            <a:endParaRPr b="1" dirty="0">
              <a:latin typeface="+mn-lt"/>
            </a:endParaRPr>
          </a:p>
          <a:p>
            <a:pPr lvl="0"/>
            <a:r>
              <a:rPr b="1" dirty="0" err="1">
                <a:latin typeface="+mn-lt"/>
              </a:rPr>
              <a:t>零开销抽象</a:t>
            </a:r>
            <a:r>
              <a:rPr dirty="0" err="1">
                <a:latin typeface="+mn-lt"/>
              </a:rPr>
              <a:t>：编译时生成最优代码</a:t>
            </a:r>
            <a:endParaRPr dirty="0">
              <a:latin typeface="+mn-lt"/>
            </a:endParaRPr>
          </a:p>
          <a:p>
            <a:pPr lvl="0"/>
            <a:r>
              <a:rPr b="1" dirty="0" err="1">
                <a:latin typeface="+mn-lt"/>
              </a:rPr>
              <a:t>类型安全</a:t>
            </a:r>
            <a:r>
              <a:rPr dirty="0" err="1">
                <a:latin typeface="+mn-lt"/>
              </a:rPr>
              <a:t>：利用</a:t>
            </a:r>
            <a:r>
              <a:rPr dirty="0">
                <a:latin typeface="+mn-lt"/>
              </a:rPr>
              <a:t> il2cpp </a:t>
            </a:r>
            <a:r>
              <a:rPr dirty="0" err="1">
                <a:latin typeface="+mn-lt"/>
              </a:rPr>
              <a:t>类型信息</a:t>
            </a:r>
            <a:endParaRPr dirty="0">
              <a:latin typeface="+mn-lt"/>
            </a:endParaRPr>
          </a:p>
          <a:p>
            <a:pPr lvl="0"/>
            <a:r>
              <a:rPr b="1" dirty="0" err="1">
                <a:latin typeface="+mn-lt"/>
              </a:rPr>
              <a:t>平台统一</a:t>
            </a:r>
            <a:r>
              <a:rPr dirty="0" err="1">
                <a:latin typeface="+mn-lt"/>
              </a:rPr>
              <a:t>：pesapi</a:t>
            </a:r>
            <a:r>
              <a:rPr dirty="0">
                <a:latin typeface="+mn-lt"/>
              </a:rPr>
              <a:t> </a:t>
            </a:r>
            <a:r>
              <a:rPr dirty="0" err="1">
                <a:latin typeface="+mn-lt"/>
              </a:rPr>
              <a:t>统一桥接接口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>
                <a:solidFill>
                  <a:srgbClr val="000000"/>
                </a:solidFill>
                <a:latin typeface="+mj-lt"/>
              </a:rPr>
              <a:t>架构优化</a:t>
            </a:r>
            <a:r>
              <a:rPr sz="6000" dirty="0">
                <a:solidFill>
                  <a:srgbClr val="000000"/>
                </a:solidFill>
                <a:latin typeface="+mj-lt"/>
              </a:rPr>
              <a:t> - </a:t>
            </a:r>
            <a:r>
              <a:rPr sz="6000" dirty="0" err="1">
                <a:solidFill>
                  <a:srgbClr val="000000"/>
                </a:solidFill>
                <a:latin typeface="+mj-lt"/>
              </a:rPr>
              <a:t>pesapi</a:t>
            </a:r>
            <a:r>
              <a:rPr sz="6000" dirty="0">
                <a:solidFill>
                  <a:srgbClr val="000000"/>
                </a:solidFill>
                <a:latin typeface="+mj-lt"/>
              </a:rPr>
              <a:t> </a:t>
            </a:r>
            <a:r>
              <a:rPr sz="6000" dirty="0" err="1">
                <a:solidFill>
                  <a:srgbClr val="000000"/>
                </a:solidFill>
                <a:latin typeface="+mj-lt"/>
              </a:rPr>
              <a:t>桥接层</a:t>
            </a:r>
            <a:endParaRPr sz="6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 err="1">
                <a:latin typeface="+mn-lt"/>
              </a:rPr>
              <a:t>pesapi</a:t>
            </a:r>
            <a:r>
              <a:rPr b="1" dirty="0">
                <a:latin typeface="+mn-lt"/>
              </a:rPr>
              <a:t> (Portable Embedded Scripting API)</a:t>
            </a:r>
          </a:p>
          <a:p>
            <a:pPr marL="0" indent="0">
              <a:buNone/>
            </a:pPr>
            <a:r>
              <a:rPr dirty="0" err="1">
                <a:latin typeface="+mn-lt"/>
              </a:rPr>
              <a:t>统一桥接接口，跨平台支持</a:t>
            </a:r>
            <a:endParaRPr dirty="0">
              <a:latin typeface="+mn-lt"/>
            </a:endParaRP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优势</a:t>
            </a:r>
            <a:endParaRPr b="1"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🌐 </a:t>
            </a:r>
            <a:r>
              <a:rPr dirty="0" err="1">
                <a:latin typeface="+mn-lt"/>
              </a:rPr>
              <a:t>跨平台统一接口</a:t>
            </a:r>
            <a:endParaRPr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⚡ </a:t>
            </a:r>
            <a:r>
              <a:rPr dirty="0" err="1">
                <a:latin typeface="+mn-lt"/>
              </a:rPr>
              <a:t>直接调用，零</a:t>
            </a:r>
            <a:r>
              <a:rPr dirty="0">
                <a:latin typeface="+mn-lt"/>
              </a:rPr>
              <a:t> </a:t>
            </a:r>
            <a:r>
              <a:rPr dirty="0" err="1">
                <a:latin typeface="+mn-lt"/>
              </a:rPr>
              <a:t>PInvoke</a:t>
            </a:r>
            <a:r>
              <a:rPr dirty="0">
                <a:latin typeface="+mn-lt"/>
              </a:rPr>
              <a:t> </a:t>
            </a:r>
            <a:r>
              <a:rPr dirty="0" err="1">
                <a:latin typeface="+mn-lt"/>
              </a:rPr>
              <a:t>开销</a:t>
            </a:r>
            <a:endParaRPr dirty="0">
              <a:latin typeface="+mn-lt"/>
            </a:endParaRP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调用路径</a:t>
            </a:r>
            <a:endParaRPr b="1" dirty="0">
              <a:latin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b="1" dirty="0" err="1">
                <a:latin typeface="+mn-lt"/>
              </a:rPr>
              <a:t>传统</a:t>
            </a:r>
            <a:r>
              <a:rPr dirty="0" err="1">
                <a:latin typeface="+mn-lt"/>
              </a:rPr>
              <a:t>：C</a:t>
            </a:r>
            <a:r>
              <a:rPr dirty="0">
                <a:latin typeface="+mn-lt"/>
              </a:rPr>
              <a:t># → </a:t>
            </a:r>
            <a:r>
              <a:rPr dirty="0" err="1">
                <a:latin typeface="+mn-lt"/>
              </a:rPr>
              <a:t>PInvoke</a:t>
            </a:r>
            <a:r>
              <a:rPr dirty="0">
                <a:latin typeface="+mn-lt"/>
              </a:rPr>
              <a:t> → Native → Lua</a:t>
            </a:r>
            <a:br>
              <a:rPr dirty="0">
                <a:latin typeface="+mn-lt"/>
              </a:rPr>
            </a:br>
            <a:r>
              <a:rPr b="1" dirty="0">
                <a:latin typeface="+mn-lt"/>
              </a:rPr>
              <a:t>il2cpp</a:t>
            </a:r>
            <a:r>
              <a:rPr dirty="0">
                <a:latin typeface="+mn-lt"/>
              </a:rPr>
              <a:t>：il2cpp → </a:t>
            </a:r>
            <a:r>
              <a:rPr dirty="0" err="1">
                <a:latin typeface="+mn-lt"/>
              </a:rPr>
              <a:t>直接调用</a:t>
            </a:r>
            <a:r>
              <a:rPr dirty="0">
                <a:latin typeface="+mn-lt"/>
              </a:rPr>
              <a:t> → Native → Lua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726" y="150810"/>
            <a:ext cx="6247625" cy="1076308"/>
          </a:xfrm>
        </p:spPr>
        <p:txBody>
          <a:bodyPr>
            <a:noAutofit/>
          </a:bodyPr>
          <a:lstStyle/>
          <a:p>
            <a:pPr algn="ctr"/>
            <a:r>
              <a:rPr sz="6000" dirty="0" err="1">
                <a:solidFill>
                  <a:srgbClr val="000000"/>
                </a:solidFill>
                <a:latin typeface="+mj-lt"/>
              </a:rPr>
              <a:t>代码生成优化</a:t>
            </a:r>
            <a:endParaRPr sz="6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0992"/>
          </a:xfrm>
        </p:spPr>
        <p:txBody>
          <a:bodyPr>
            <a:normAutofit/>
          </a:bodyPr>
          <a:lstStyle/>
          <a:p>
            <a:r>
              <a:rPr sz="2400" b="1" dirty="0">
                <a:latin typeface="+mn-lt"/>
              </a:rPr>
              <a:t>C++ Wrapper</a:t>
            </a:r>
            <a:r>
              <a:rPr sz="2400" dirty="0">
                <a:latin typeface="+mn-lt"/>
              </a:rPr>
              <a:t> </a:t>
            </a:r>
            <a:r>
              <a:rPr sz="2400" dirty="0" err="1">
                <a:latin typeface="+mn-lt"/>
              </a:rPr>
              <a:t>替代</a:t>
            </a:r>
            <a:r>
              <a:rPr sz="2400" dirty="0">
                <a:latin typeface="+mn-lt"/>
              </a:rPr>
              <a:t> C# Wrapper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676557"/>
              </p:ext>
            </p:extLst>
          </p:nvPr>
        </p:nvGraphicFramePr>
        <p:xfrm>
          <a:off x="609602" y="2232255"/>
          <a:ext cx="680720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>
                          <a:latin typeface="+mn-lt"/>
                        </a:rPr>
                        <a:t>特性</a:t>
                      </a:r>
                      <a:endParaRPr sz="1600" dirty="0">
                        <a:latin typeface="+mn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传统模式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il2cpp 模式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>
                          <a:latin typeface="+mn-lt"/>
                        </a:rPr>
                        <a:t>Wrapper </a:t>
                      </a:r>
                      <a:r>
                        <a:rPr sz="1600" dirty="0" err="1">
                          <a:latin typeface="+mn-lt"/>
                        </a:rPr>
                        <a:t>类型</a:t>
                      </a:r>
                      <a:endParaRPr sz="1600" dirty="0">
                        <a:latin typeface="+mn-lt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>
                          <a:latin typeface="+mn-lt"/>
                        </a:rPr>
                        <a:t>C# Static Wrapper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C++ FunctionBridge.h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调用方式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运行时反射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编译时直接链接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运行时开销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+mn-lt"/>
                        </a:rPr>
                        <a:t>有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b="1" dirty="0">
                          <a:latin typeface="+mn-lt"/>
                        </a:rPr>
                        <a:t>零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>
                <a:latin typeface="+mn-lt"/>
              </a:rPr>
              <a:t>类型信息编译时确定</a:t>
            </a:r>
            <a:endParaRPr dirty="0">
              <a:latin typeface="+mn-lt"/>
            </a:endParaRPr>
          </a:p>
          <a:p>
            <a:pPr lvl="0"/>
            <a:r>
              <a:rPr dirty="0" err="1">
                <a:latin typeface="+mn-lt"/>
              </a:rPr>
              <a:t>避免运行时类型查询</a:t>
            </a:r>
            <a:endParaRPr dirty="0">
              <a:latin typeface="+mn-lt"/>
            </a:endParaRPr>
          </a:p>
          <a:p>
            <a:pPr lvl="0"/>
            <a:r>
              <a:rPr dirty="0" err="1">
                <a:latin typeface="+mn-lt"/>
              </a:rPr>
              <a:t>直接内存操作，内联优化</a:t>
            </a:r>
            <a:endParaRPr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A53013-2FA1-1FB4-700B-8B79CB345819}"/>
              </a:ext>
            </a:extLst>
          </p:cNvPr>
          <p:cNvSpPr txBox="1"/>
          <p:nvPr/>
        </p:nvSpPr>
        <p:spPr>
          <a:xfrm>
            <a:off x="2149434" y="437107"/>
            <a:ext cx="785354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 hangingPunct="0"/>
            <a:r>
              <a:rPr lang="zh-CN" altLang="en-US" sz="6000" b="1" dirty="0">
                <a:solidFill>
                  <a:srgbClr val="000000"/>
                </a:solidFill>
                <a:latin typeface="+mj-ea"/>
                <a:ea typeface="+mj-ea"/>
              </a:rPr>
              <a:t>生成 </a:t>
            </a:r>
            <a:r>
              <a:rPr lang="en-US" sz="6000" b="1" dirty="0">
                <a:solidFill>
                  <a:srgbClr val="000000"/>
                </a:solidFill>
                <a:latin typeface="+mj-ea"/>
                <a:ea typeface="+mj-ea"/>
              </a:rPr>
              <a:t>Bridge </a:t>
            </a:r>
            <a:r>
              <a:rPr lang="zh-CN" altLang="en-US" sz="6000" b="1" dirty="0">
                <a:solidFill>
                  <a:srgbClr val="000000"/>
                </a:solidFill>
                <a:latin typeface="+mj-ea"/>
                <a:ea typeface="+mj-ea"/>
              </a:rPr>
              <a:t>函数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>
                <a:solidFill>
                  <a:srgbClr val="000000"/>
                </a:solidFill>
                <a:latin typeface="+mj-lt"/>
              </a:rPr>
              <a:t>类型系统优化（0 GC）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spcBef>
                <a:spcPts val="4000"/>
              </a:spcBef>
              <a:buNone/>
            </a:pPr>
            <a:r>
              <a:rPr sz="1100" b="1" dirty="0" err="1">
                <a:latin typeface="+mn-lt"/>
              </a:rPr>
              <a:t>泛型</a:t>
            </a:r>
            <a:endParaRPr sz="1100" b="1" dirty="0">
              <a:latin typeface="+mn-lt"/>
            </a:endParaRPr>
          </a:p>
          <a:p>
            <a:pPr indent="0">
              <a:lnSpc>
                <a:spcPct val="120000"/>
              </a:lnSpc>
              <a:buNone/>
            </a:pPr>
            <a:r>
              <a:rPr sz="1100" i="1" dirty="0">
                <a:solidFill>
                  <a:srgbClr val="60A0B0"/>
                </a:solidFill>
                <a:latin typeface="+mn-lt"/>
              </a:rPr>
              <a:t>-- </a:t>
            </a:r>
            <a:r>
              <a:rPr sz="1100" i="1" dirty="0" err="1">
                <a:solidFill>
                  <a:srgbClr val="60A0B0"/>
                </a:solidFill>
                <a:latin typeface="+mn-lt"/>
              </a:rPr>
              <a:t>传统：装箱产生</a:t>
            </a:r>
            <a:r>
              <a:rPr sz="1100" i="1" dirty="0">
                <a:solidFill>
                  <a:srgbClr val="60A0B0"/>
                </a:solidFill>
                <a:latin typeface="+mn-lt"/>
              </a:rPr>
              <a:t> GC</a:t>
            </a:r>
            <a:br>
              <a:rPr sz="1100" dirty="0">
                <a:latin typeface="+mn-lt"/>
              </a:rPr>
            </a:br>
            <a:r>
              <a:rPr sz="1100" dirty="0" err="1">
                <a:latin typeface="+mn-lt"/>
              </a:rPr>
              <a:t>sendaction_generic</a:t>
            </a:r>
            <a:r>
              <a:rPr sz="1100" dirty="0">
                <a:solidFill>
                  <a:srgbClr val="666666"/>
                </a:solidFill>
                <a:latin typeface="+mn-lt"/>
              </a:rPr>
              <a:t>(</a:t>
            </a:r>
            <a:r>
              <a:rPr sz="1100" dirty="0">
                <a:solidFill>
                  <a:srgbClr val="880000"/>
                </a:solidFill>
                <a:latin typeface="+mn-lt"/>
              </a:rPr>
              <a:t>CS</a:t>
            </a:r>
            <a:r>
              <a:rPr sz="1100" dirty="0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>
                <a:solidFill>
                  <a:srgbClr val="19177C"/>
                </a:solidFill>
                <a:latin typeface="+mn-lt"/>
              </a:rPr>
              <a:t>System</a:t>
            </a:r>
            <a:r>
              <a:rPr sz="1100" dirty="0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>
                <a:solidFill>
                  <a:srgbClr val="19177C"/>
                </a:solidFill>
                <a:latin typeface="+mn-lt"/>
              </a:rPr>
              <a:t>Int32</a:t>
            </a:r>
            <a:r>
              <a:rPr sz="1100" dirty="0">
                <a:solidFill>
                  <a:srgbClr val="666666"/>
                </a:solidFill>
                <a:latin typeface="+mn-lt"/>
              </a:rPr>
              <a:t>)</a:t>
            </a:r>
            <a:br>
              <a:rPr sz="1100" dirty="0">
                <a:latin typeface="+mn-lt"/>
              </a:rPr>
            </a:br>
            <a:r>
              <a:rPr sz="1100" i="1" dirty="0">
                <a:solidFill>
                  <a:srgbClr val="60A0B0"/>
                </a:solidFill>
                <a:latin typeface="+mn-lt"/>
              </a:rPr>
              <a:t>-- il2cpp：直接传入类型，无 GC</a:t>
            </a:r>
            <a:br>
              <a:rPr sz="1100" dirty="0">
                <a:latin typeface="+mn-lt"/>
              </a:rPr>
            </a:br>
            <a:r>
              <a:rPr sz="1100" dirty="0" err="1">
                <a:solidFill>
                  <a:srgbClr val="19177C"/>
                </a:solidFill>
                <a:latin typeface="+mn-lt"/>
              </a:rPr>
              <a:t>xlua</a:t>
            </a:r>
            <a:r>
              <a:rPr sz="1100" dirty="0" err="1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 err="1">
                <a:latin typeface="+mn-lt"/>
              </a:rPr>
              <a:t>get_generic_method</a:t>
            </a:r>
            <a:r>
              <a:rPr sz="1100" dirty="0">
                <a:solidFill>
                  <a:srgbClr val="666666"/>
                </a:solidFill>
                <a:latin typeface="+mn-lt"/>
              </a:rPr>
              <a:t>(</a:t>
            </a:r>
            <a:r>
              <a:rPr sz="1100" dirty="0" err="1">
                <a:solidFill>
                  <a:srgbClr val="880000"/>
                </a:solidFill>
                <a:latin typeface="+mn-lt"/>
              </a:rPr>
              <a:t>CS</a:t>
            </a:r>
            <a:r>
              <a:rPr sz="1100" dirty="0" err="1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 err="1">
                <a:solidFill>
                  <a:srgbClr val="19177C"/>
                </a:solidFill>
                <a:latin typeface="+mn-lt"/>
              </a:rPr>
              <a:t>Class</a:t>
            </a:r>
            <a:r>
              <a:rPr sz="1100" dirty="0">
                <a:solidFill>
                  <a:srgbClr val="666666"/>
                </a:solidFill>
                <a:latin typeface="+mn-lt"/>
              </a:rPr>
              <a:t>,</a:t>
            </a:r>
            <a:r>
              <a:rPr sz="1100" dirty="0">
                <a:latin typeface="+mn-lt"/>
              </a:rPr>
              <a:t> </a:t>
            </a:r>
            <a:r>
              <a:rPr sz="1100" dirty="0">
                <a:solidFill>
                  <a:srgbClr val="4070A0"/>
                </a:solidFill>
                <a:latin typeface="+mn-lt"/>
              </a:rPr>
              <a:t>'</a:t>
            </a:r>
            <a:r>
              <a:rPr sz="1100" dirty="0" err="1">
                <a:solidFill>
                  <a:srgbClr val="4070A0"/>
                </a:solidFill>
                <a:latin typeface="+mn-lt"/>
              </a:rPr>
              <a:t>SendAction</a:t>
            </a:r>
            <a:r>
              <a:rPr sz="1100" dirty="0">
                <a:solidFill>
                  <a:srgbClr val="4070A0"/>
                </a:solidFill>
                <a:latin typeface="+mn-lt"/>
              </a:rPr>
              <a:t>'</a:t>
            </a:r>
            <a:r>
              <a:rPr sz="1100" dirty="0">
                <a:solidFill>
                  <a:srgbClr val="666666"/>
                </a:solidFill>
                <a:latin typeface="+mn-lt"/>
              </a:rPr>
              <a:t>,</a:t>
            </a:r>
            <a:r>
              <a:rPr sz="1100" dirty="0">
                <a:latin typeface="+mn-lt"/>
              </a:rPr>
              <a:t> </a:t>
            </a:r>
            <a:r>
              <a:rPr sz="1100" dirty="0">
                <a:solidFill>
                  <a:srgbClr val="880000"/>
                </a:solidFill>
                <a:latin typeface="+mn-lt"/>
              </a:rPr>
              <a:t>CS</a:t>
            </a:r>
            <a:r>
              <a:rPr sz="1100" dirty="0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>
                <a:solidFill>
                  <a:srgbClr val="19177C"/>
                </a:solidFill>
                <a:latin typeface="+mn-lt"/>
              </a:rPr>
              <a:t>System</a:t>
            </a:r>
            <a:r>
              <a:rPr sz="1100" dirty="0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>
                <a:solidFill>
                  <a:srgbClr val="19177C"/>
                </a:solidFill>
                <a:latin typeface="+mn-lt"/>
              </a:rPr>
              <a:t>Int32</a:t>
            </a:r>
            <a:r>
              <a:rPr sz="1100" dirty="0">
                <a:solidFill>
                  <a:srgbClr val="666666"/>
                </a:solidFill>
                <a:latin typeface="+mn-lt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4000"/>
              </a:spcBef>
              <a:buNone/>
            </a:pPr>
            <a:r>
              <a:rPr sz="1100" b="1" dirty="0" err="1">
                <a:latin typeface="+mn-lt"/>
              </a:rPr>
              <a:t>枚举</a:t>
            </a:r>
            <a:endParaRPr sz="1100" b="1" dirty="0">
              <a:latin typeface="+mn-lt"/>
            </a:endParaRPr>
          </a:p>
          <a:p>
            <a:pPr indent="0">
              <a:lnSpc>
                <a:spcPct val="120000"/>
              </a:lnSpc>
              <a:buNone/>
            </a:pPr>
            <a:r>
              <a:rPr sz="1100" i="1" dirty="0">
                <a:solidFill>
                  <a:srgbClr val="60A0B0"/>
                </a:solidFill>
                <a:latin typeface="+mn-lt"/>
              </a:rPr>
              <a:t>-- </a:t>
            </a:r>
            <a:r>
              <a:rPr sz="1100" i="1" dirty="0" err="1">
                <a:solidFill>
                  <a:srgbClr val="60A0B0"/>
                </a:solidFill>
                <a:latin typeface="+mn-lt"/>
              </a:rPr>
              <a:t>传统：枚举对象，有</a:t>
            </a:r>
            <a:r>
              <a:rPr sz="1100" i="1" dirty="0">
                <a:solidFill>
                  <a:srgbClr val="60A0B0"/>
                </a:solidFill>
                <a:latin typeface="+mn-lt"/>
              </a:rPr>
              <a:t> GC</a:t>
            </a:r>
            <a:br>
              <a:rPr sz="1100" dirty="0">
                <a:latin typeface="+mn-lt"/>
              </a:rPr>
            </a:br>
            <a:r>
              <a:rPr sz="1100" dirty="0" err="1">
                <a:solidFill>
                  <a:srgbClr val="19177C"/>
                </a:solidFill>
                <a:latin typeface="+mn-lt"/>
              </a:rPr>
              <a:t>TssSDKIoctlCMD</a:t>
            </a:r>
            <a:r>
              <a:rPr sz="1100" dirty="0" err="1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 err="1">
                <a:solidFill>
                  <a:srgbClr val="19177C"/>
                </a:solidFill>
                <a:latin typeface="+mn-lt"/>
              </a:rPr>
              <a:t>CommQuery</a:t>
            </a:r>
            <a:r>
              <a:rPr sz="1100" dirty="0" err="1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 err="1">
                <a:solidFill>
                  <a:srgbClr val="19177C"/>
                </a:solidFill>
                <a:latin typeface="+mn-lt"/>
              </a:rPr>
              <a:t>value</a:t>
            </a:r>
            <a:r>
              <a:rPr sz="1100" dirty="0">
                <a:solidFill>
                  <a:srgbClr val="19177C"/>
                </a:solidFill>
                <a:latin typeface="+mn-lt"/>
              </a:rPr>
              <a:t>__</a:t>
            </a:r>
            <a:br>
              <a:rPr sz="1100" dirty="0">
                <a:latin typeface="+mn-lt"/>
              </a:rPr>
            </a:br>
            <a:r>
              <a:rPr sz="1100" i="1" dirty="0">
                <a:solidFill>
                  <a:srgbClr val="60A0B0"/>
                </a:solidFill>
                <a:latin typeface="+mn-lt"/>
              </a:rPr>
              <a:t>-- il2cpp：直接作为 </a:t>
            </a:r>
            <a:r>
              <a:rPr sz="1100" i="1" dirty="0" err="1">
                <a:solidFill>
                  <a:srgbClr val="60A0B0"/>
                </a:solidFill>
                <a:latin typeface="+mn-lt"/>
              </a:rPr>
              <a:t>number，零开销</a:t>
            </a:r>
            <a:br>
              <a:rPr sz="1100" dirty="0">
                <a:latin typeface="+mn-lt"/>
              </a:rPr>
            </a:br>
            <a:r>
              <a:rPr sz="1100" dirty="0" err="1">
                <a:solidFill>
                  <a:srgbClr val="19177C"/>
                </a:solidFill>
                <a:latin typeface="+mn-lt"/>
              </a:rPr>
              <a:t>TssSDKIoctlCMD</a:t>
            </a:r>
            <a:r>
              <a:rPr sz="1100" dirty="0" err="1">
                <a:solidFill>
                  <a:srgbClr val="666666"/>
                </a:solidFill>
                <a:latin typeface="+mn-lt"/>
              </a:rPr>
              <a:t>.</a:t>
            </a:r>
            <a:r>
              <a:rPr sz="1100" dirty="0" err="1">
                <a:solidFill>
                  <a:srgbClr val="19177C"/>
                </a:solidFill>
                <a:latin typeface="+mn-lt"/>
              </a:rPr>
              <a:t>CommQuery</a:t>
            </a:r>
            <a:endParaRPr sz="1100" dirty="0">
              <a:solidFill>
                <a:srgbClr val="19177C"/>
              </a:solidFill>
              <a:latin typeface="+mn-lt"/>
            </a:endParaRPr>
          </a:p>
          <a:p>
            <a:pPr marL="0" indent="0">
              <a:lnSpc>
                <a:spcPct val="120000"/>
              </a:lnSpc>
              <a:spcBef>
                <a:spcPts val="4000"/>
              </a:spcBef>
              <a:buNone/>
            </a:pPr>
            <a:r>
              <a:rPr sz="1100" b="1" dirty="0" err="1">
                <a:latin typeface="+mn-lt"/>
              </a:rPr>
              <a:t>值类型</a:t>
            </a:r>
            <a:endParaRPr sz="1100" b="1" dirty="0">
              <a:latin typeface="+mn-lt"/>
            </a:endParaRPr>
          </a:p>
          <a:p>
            <a:pPr lvl="0">
              <a:lnSpc>
                <a:spcPct val="120000"/>
              </a:lnSpc>
            </a:pPr>
            <a:r>
              <a:rPr sz="1100" dirty="0">
                <a:latin typeface="+mn-lt"/>
              </a:rPr>
              <a:t>✅ </a:t>
            </a:r>
            <a:r>
              <a:rPr sz="1100" dirty="0" err="1">
                <a:latin typeface="+mn-lt"/>
              </a:rPr>
              <a:t>栈上传递，无需装箱，减少内存分配</a:t>
            </a:r>
            <a:endParaRPr sz="1100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核心指标</a:t>
            </a:r>
            <a:endParaRPr b="1"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⚡ </a:t>
            </a:r>
            <a:r>
              <a:rPr dirty="0" err="1">
                <a:latin typeface="+mn-lt"/>
              </a:rPr>
              <a:t>函数调用</a:t>
            </a:r>
            <a:r>
              <a:rPr dirty="0">
                <a:latin typeface="+mn-lt"/>
              </a:rPr>
              <a:t>：~100ns → ~20ns（</a:t>
            </a:r>
            <a:r>
              <a:rPr b="1" dirty="0">
                <a:latin typeface="+mn-lt"/>
              </a:rPr>
              <a:t>5倍</a:t>
            </a:r>
            <a:r>
              <a:rPr dirty="0">
                <a:latin typeface="+mn-lt"/>
              </a:rPr>
              <a:t>）</a:t>
            </a:r>
          </a:p>
          <a:p>
            <a:pPr lvl="0"/>
            <a:r>
              <a:rPr dirty="0">
                <a:latin typeface="+mn-lt"/>
              </a:rPr>
              <a:t>🚫 GC </a:t>
            </a:r>
            <a:r>
              <a:rPr dirty="0" err="1">
                <a:latin typeface="+mn-lt"/>
              </a:rPr>
              <a:t>分配：频繁</a:t>
            </a:r>
            <a:r>
              <a:rPr dirty="0">
                <a:latin typeface="+mn-lt"/>
              </a:rPr>
              <a:t> → </a:t>
            </a:r>
            <a:r>
              <a:rPr dirty="0" err="1">
                <a:latin typeface="+mn-lt"/>
              </a:rPr>
              <a:t>极少</a:t>
            </a:r>
            <a:endParaRPr dirty="0">
              <a:latin typeface="+mn-lt"/>
            </a:endParaRPr>
          </a:p>
          <a:p>
            <a:pPr marL="0" indent="0">
              <a:spcBef>
                <a:spcPts val="4000"/>
              </a:spcBef>
              <a:buNone/>
            </a:pPr>
            <a:r>
              <a:rPr b="1" dirty="0" err="1">
                <a:latin typeface="+mn-lt"/>
              </a:rPr>
              <a:t>核心价值</a:t>
            </a:r>
            <a:endParaRPr b="1" dirty="0">
              <a:latin typeface="+mn-lt"/>
            </a:endParaRPr>
          </a:p>
          <a:p>
            <a:pPr lvl="0"/>
            <a:r>
              <a:rPr dirty="0">
                <a:latin typeface="+mn-lt"/>
              </a:rPr>
              <a:t>⚡ </a:t>
            </a:r>
            <a:r>
              <a:rPr dirty="0" err="1">
                <a:latin typeface="+mn-lt"/>
              </a:rPr>
              <a:t>性能提升</a:t>
            </a:r>
            <a:r>
              <a:rPr dirty="0">
                <a:latin typeface="+mn-lt"/>
              </a:rPr>
              <a:t> </a:t>
            </a:r>
            <a:r>
              <a:rPr b="1" dirty="0">
                <a:latin typeface="+mn-lt"/>
              </a:rPr>
              <a:t>2-5倍</a:t>
            </a:r>
          </a:p>
          <a:p>
            <a:pPr lvl="0"/>
            <a:r>
              <a:rPr dirty="0">
                <a:latin typeface="+mn-lt"/>
              </a:rPr>
              <a:t>🚫 GC </a:t>
            </a:r>
            <a:r>
              <a:rPr dirty="0" err="1">
                <a:latin typeface="+mn-lt"/>
              </a:rPr>
              <a:t>分配显著降低</a:t>
            </a:r>
            <a:endParaRPr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FF9FA-4006-776C-0FF0-C45F7036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678" y="495715"/>
            <a:ext cx="7772400" cy="10215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6000" dirty="0" err="1">
                <a:solidFill>
                  <a:srgbClr val="000000"/>
                </a:solidFill>
                <a:latin typeface="+mj-lt"/>
              </a:rPr>
              <a:t>性能提升总结</a:t>
            </a:r>
            <a:endParaRPr sz="60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dissolve/>
      </p:transition>
    </mc:Choice>
    <mc:Fallback xmlns="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Gradient">
  <a:themeElements>
    <a:clrScheme name="Gradient">
      <a:dk1>
        <a:srgbClr val="53585F"/>
      </a:dk1>
      <a:lt1>
        <a:srgbClr val="5F3E0C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自定义 2">
      <a:majorFont>
        <a:latin typeface="腾讯体 W7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252D8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chemeClr val="accent6">
                <a:hueOff val="10811956"/>
                <a:satOff val="-58544"/>
                <a:lumOff val="-9736"/>
              </a:schemeClr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4582</TotalTime>
  <Words>395</Words>
  <Application>Microsoft Office PowerPoint</Application>
  <PresentationFormat>Widescreen</PresentationFormat>
  <Paragraphs>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Helvetica Light</vt:lpstr>
      <vt:lpstr>Helvetica Neue</vt:lpstr>
      <vt:lpstr>Helvetica Neue Medium</vt:lpstr>
      <vt:lpstr>Microsoft YaHei Light</vt:lpstr>
      <vt:lpstr>微软雅黑</vt:lpstr>
      <vt:lpstr>等线</vt:lpstr>
      <vt:lpstr>等线 Light</vt:lpstr>
      <vt:lpstr>腾讯体 W3</vt:lpstr>
      <vt:lpstr>腾讯体 W7</vt:lpstr>
      <vt:lpstr>Arial</vt:lpstr>
      <vt:lpstr>Calibri</vt:lpstr>
      <vt:lpstr>Helvetica</vt:lpstr>
      <vt:lpstr>Wingdings</vt:lpstr>
      <vt:lpstr>Gradient</vt:lpstr>
      <vt:lpstr>自定义设计方案</vt:lpstr>
      <vt:lpstr>李彦峰（zentiali）职级评审陈述</vt:lpstr>
      <vt:lpstr>PowerPoint Presentation</vt:lpstr>
      <vt:lpstr>xLua-il2cpp 优化</vt:lpstr>
      <vt:lpstr>核心优化思路</vt:lpstr>
      <vt:lpstr>架构优化 - pesapi 桥接层</vt:lpstr>
      <vt:lpstr>代码生成优化</vt:lpstr>
      <vt:lpstr>PowerPoint Presentation</vt:lpstr>
      <vt:lpstr>类型系统优化（0 GC）</vt:lpstr>
      <vt:lpstr>性能提升总结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腾讯集团PPT模版</dc:title>
  <dc:creator>lisacao(曹莉莎)</dc:creator>
  <cp:lastModifiedBy>T162129</cp:lastModifiedBy>
  <cp:revision>177</cp:revision>
  <dcterms:created xsi:type="dcterms:W3CDTF">2021-06-03T01:47:20Z</dcterms:created>
  <dcterms:modified xsi:type="dcterms:W3CDTF">2025-12-21T16:23:17Z</dcterms:modified>
</cp:coreProperties>
</file>